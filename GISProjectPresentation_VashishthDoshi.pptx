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60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96452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9e09934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1188" y="1378074"/>
            <a:ext cx="285074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60"/>
              </a:lnSpc>
              <a:spcAft>
                <a:spcPts val="1500"/>
              </a:spcAft>
              <a:buNone/>
            </a:pPr>
            <a:r>
              <a:rPr lang="en-US" sz="1200" dirty="0">
                <a:solidFill>
                  <a:srgbClr val="00A8E8"/>
                </a:solidFill>
                <a:ea typeface="Arial" pitchFamily="34" charset="-122"/>
                <a:cs typeface="Arial" pitchFamily="34" charset="-120"/>
              </a:rPr>
              <a:t>Transit Accessibility Analysis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1227909" y="1538826"/>
            <a:ext cx="1697297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LA28 Mobility Study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840615" y="2564694"/>
            <a:ext cx="247188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3000"/>
              </a:spcAft>
              <a:buNone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Measuring Transit Accessibility </a:t>
            </a:r>
            <a:b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Before &amp; After the 2028 Olympics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505056" y="3214092"/>
            <a:ext cx="1143000" cy="28575"/>
          </a:xfrm>
          <a:prstGeom prst="rect">
            <a:avLst/>
          </a:prstGeom>
          <a:solidFill>
            <a:srgbClr val="FFD7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209781" y="3241909"/>
            <a:ext cx="1733550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i="1" dirty="0">
                <a:solidFill>
                  <a:srgbClr val="00A8E8"/>
                </a:solidFill>
                <a:ea typeface="Arial" pitchFamily="34" charset="-122"/>
                <a:cs typeface="Arial" pitchFamily="34" charset="-120"/>
              </a:rPr>
              <a:t>"How much and where do Twenty-Eight by '28 projects actually improve access to transit across Los Angeles County?"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5271" y="4781550"/>
            <a:ext cx="2639569" cy="882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GIS Kernel Density Analysis | Dec 07, 2025</a:t>
            </a:r>
            <a:b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</a:b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Vashishth Doshi (vbd@andrew.cmu.edu)</a:t>
            </a:r>
            <a:endParaRPr lang="en-US" sz="1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F5DD5E5-B86A-23FE-6EFF-8ED92A258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0"/>
            <a:ext cx="5143500" cy="5143500"/>
          </a:xfrm>
          <a:prstGeom prst="rect">
            <a:avLst/>
          </a:prstGeom>
        </p:spPr>
      </p:pic>
      <p:sp>
        <p:nvSpPr>
          <p:cNvPr id="11" name="Text 40">
            <a:extLst>
              <a:ext uri="{FF2B5EF4-FFF2-40B4-BE49-F238E27FC236}">
                <a16:creationId xmlns:a16="http://schemas.microsoft.com/office/drawing/2014/main" id="{A34BA955-EE6D-38D2-BCE5-57530D83E635}"/>
              </a:ext>
            </a:extLst>
          </p:cNvPr>
          <p:cNvSpPr/>
          <p:nvPr/>
        </p:nvSpPr>
        <p:spPr>
          <a:xfrm>
            <a:off x="5407795" y="4977656"/>
            <a:ext cx="3679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050"/>
              </a:lnSpc>
              <a:buNone/>
            </a:pPr>
            <a:r>
              <a:rPr lang="en-US" sz="1200" dirty="0">
                <a:solidFill>
                  <a:srgbClr val="A0B4C8"/>
                </a:solidFill>
                <a:cs typeface="Arial" pitchFamily="34" charset="-120"/>
              </a:rPr>
              <a:t>Source: LA Metro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702e03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28600"/>
            <a:ext cx="50812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Methods: Kernel Density Analysis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762000" y="647700"/>
            <a:ext cx="8161020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Comparing transit accessibility surfaces: 2025 baseline vs 2028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62000" y="1306412"/>
            <a:ext cx="3463230" cy="809327"/>
          </a:xfrm>
          <a:prstGeom prst="roundRect">
            <a:avLst>
              <a:gd name="adj" fmla="val 9415"/>
            </a:avLst>
          </a:prstGeom>
          <a:solidFill>
            <a:srgbClr val="162D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864653" y="1306411"/>
            <a:ext cx="0" cy="809327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2500" y="1347721"/>
            <a:ext cx="3182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A8E8"/>
                </a:solidFill>
                <a:ea typeface="Arial" pitchFamily="34" charset="-122"/>
                <a:cs typeface="Arial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52500" y="1494606"/>
            <a:ext cx="31827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Build Scenario Layers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52500" y="1734220"/>
            <a:ext cx="3182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2025 baseline + 2028 improvements (rail, BRT, last-mile)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62000" y="2228134"/>
            <a:ext cx="3463230" cy="809327"/>
          </a:xfrm>
          <a:prstGeom prst="roundRect">
            <a:avLst>
              <a:gd name="adj" fmla="val 9415"/>
            </a:avLst>
          </a:prstGeom>
          <a:solidFill>
            <a:srgbClr val="162D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4653" y="2228134"/>
            <a:ext cx="0" cy="809327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2500" y="2255312"/>
            <a:ext cx="3182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A8E8"/>
                </a:solidFill>
                <a:ea typeface="Arial" pitchFamily="34" charset="-122"/>
                <a:cs typeface="Arial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52500" y="2383268"/>
            <a:ext cx="31827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Run Kernel Density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39608" y="2595012"/>
            <a:ext cx="3182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800m search radius (~10-15 min walk to transit)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3115568"/>
            <a:ext cx="3463230" cy="809327"/>
          </a:xfrm>
          <a:prstGeom prst="roundRect">
            <a:avLst>
              <a:gd name="adj" fmla="val 9415"/>
            </a:avLst>
          </a:prstGeom>
          <a:solidFill>
            <a:srgbClr val="162D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4653" y="3111393"/>
            <a:ext cx="0" cy="809327"/>
          </a:xfrm>
          <a:prstGeom prst="line">
            <a:avLst/>
          </a:prstGeom>
          <a:noFill/>
          <a:ln w="38100">
            <a:solidFill>
              <a:srgbClr val="00A8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52500" y="3161147"/>
            <a:ext cx="3182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A8E8"/>
                </a:solidFill>
                <a:ea typeface="Arial" pitchFamily="34" charset="-122"/>
                <a:cs typeface="Arial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52500" y="3298859"/>
            <a:ext cx="31827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Compute Delta Raster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52500" y="3538472"/>
            <a:ext cx="3182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KD_2028 − KD_2025 = change in accessibility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762000" y="4010705"/>
            <a:ext cx="3463230" cy="809327"/>
          </a:xfrm>
          <a:prstGeom prst="roundRect">
            <a:avLst>
              <a:gd name="adj" fmla="val 9415"/>
            </a:avLst>
          </a:prstGeom>
          <a:solidFill>
            <a:srgbClr val="162D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4653" y="4010705"/>
            <a:ext cx="0" cy="809327"/>
          </a:xfrm>
          <a:prstGeom prst="line">
            <a:avLst/>
          </a:prstGeom>
          <a:noFill/>
          <a:ln w="38100">
            <a:solidFill>
              <a:srgbClr val="00B0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52500" y="4083551"/>
            <a:ext cx="3182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B0F0"/>
                </a:solidFill>
                <a:ea typeface="Arial" pitchFamily="34" charset="-122"/>
                <a:cs typeface="Arial" pitchFamily="34" charset="-120"/>
              </a:rPr>
              <a:t>STEP 4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23" name="Text 20"/>
          <p:cNvSpPr/>
          <p:nvPr/>
        </p:nvSpPr>
        <p:spPr>
          <a:xfrm>
            <a:off x="952500" y="4226126"/>
            <a:ext cx="318273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5"/>
              </a:lnSpc>
              <a:buNone/>
            </a:pPr>
            <a:r>
              <a:rPr lang="en-US" sz="1200" b="1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Zonal Statistics by Tract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52499" y="4443858"/>
            <a:ext cx="318273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Classify tracts: None → Low → Medium → High improvement</a:t>
            </a:r>
            <a:endParaRPr lang="en-US" sz="12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5CC0103-FCB5-5202-2632-F73C8E120C18}"/>
              </a:ext>
            </a:extLst>
          </p:cNvPr>
          <p:cNvGrpSpPr/>
          <p:nvPr/>
        </p:nvGrpSpPr>
        <p:grpSpPr>
          <a:xfrm>
            <a:off x="5083007" y="1317868"/>
            <a:ext cx="3933435" cy="979300"/>
            <a:chOff x="4716104" y="2127945"/>
            <a:chExt cx="3933435" cy="979300"/>
          </a:xfrm>
        </p:grpSpPr>
        <p:sp>
          <p:nvSpPr>
            <p:cNvPr id="26" name="Text 23"/>
            <p:cNvSpPr/>
            <p:nvPr/>
          </p:nvSpPr>
          <p:spPr>
            <a:xfrm>
              <a:off x="4720530" y="2127945"/>
              <a:ext cx="3929009" cy="186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70"/>
                </a:lnSpc>
                <a:spcAft>
                  <a:spcPts val="900"/>
                </a:spcAft>
                <a:buNone/>
              </a:pPr>
              <a:r>
                <a:rPr lang="en-US" sz="1200" b="1" dirty="0">
                  <a:solidFill>
                    <a:srgbClr val="FFD700"/>
                  </a:solidFill>
                  <a:ea typeface="Arial" pitchFamily="34" charset="-122"/>
                  <a:cs typeface="Arial" pitchFamily="34" charset="-120"/>
                </a:rPr>
                <a:t>Map Symbology</a:t>
              </a:r>
              <a:endParaRPr lang="en-US" sz="1200" dirty="0"/>
            </a:p>
          </p:txBody>
        </p:sp>
        <p:sp>
          <p:nvSpPr>
            <p:cNvPr id="27" name="Text 24"/>
            <p:cNvSpPr/>
            <p:nvPr/>
          </p:nvSpPr>
          <p:spPr>
            <a:xfrm>
              <a:off x="4720530" y="2428875"/>
              <a:ext cx="815343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spcAft>
                  <a:spcPts val="450"/>
                </a:spcAft>
                <a:buNone/>
              </a:pPr>
              <a:r>
                <a:rPr lang="en-US" sz="1200" dirty="0">
                  <a:solidFill>
                    <a:srgbClr val="A0B4C8"/>
                  </a:solidFill>
                  <a:ea typeface="Arial" pitchFamily="34" charset="-122"/>
                  <a:cs typeface="Arial" pitchFamily="34" charset="-120"/>
                </a:rPr>
                <a:t>KD Surfaces</a:t>
              </a:r>
              <a:endParaRPr lang="en-US" sz="1200" dirty="0"/>
            </a:p>
          </p:txBody>
        </p:sp>
        <p:sp>
          <p:nvSpPr>
            <p:cNvPr id="28" name="Text 25"/>
            <p:cNvSpPr/>
            <p:nvPr/>
          </p:nvSpPr>
          <p:spPr>
            <a:xfrm>
              <a:off x="4720530" y="2632621"/>
              <a:ext cx="152400" cy="152400"/>
            </a:xfrm>
            <a:prstGeom prst="roundRect">
              <a:avLst>
                <a:gd name="adj" fmla="val 12500"/>
              </a:avLst>
            </a:prstGeom>
            <a:solidFill>
              <a:srgbClr val="0052A3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29" name="Text 26"/>
            <p:cNvSpPr/>
            <p:nvPr/>
          </p:nvSpPr>
          <p:spPr>
            <a:xfrm>
              <a:off x="4949130" y="2635448"/>
              <a:ext cx="1112036" cy="1275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ea typeface="Arial" pitchFamily="34" charset="-122"/>
                  <a:cs typeface="Arial" pitchFamily="34" charset="-120"/>
                </a:rPr>
                <a:t>High Improvement</a:t>
              </a:r>
              <a:endParaRPr lang="en-US" sz="1200" dirty="0"/>
            </a:p>
          </p:txBody>
        </p:sp>
        <p:sp>
          <p:nvSpPr>
            <p:cNvPr id="30" name="Text 27"/>
            <p:cNvSpPr/>
            <p:nvPr/>
          </p:nvSpPr>
          <p:spPr>
            <a:xfrm>
              <a:off x="4716104" y="2954845"/>
              <a:ext cx="152400" cy="152400"/>
            </a:xfrm>
            <a:prstGeom prst="roundRect">
              <a:avLst>
                <a:gd name="adj" fmla="val 12500"/>
              </a:avLst>
            </a:prstGeom>
            <a:solidFill>
              <a:schemeClr val="tx2">
                <a:lumMod val="20000"/>
                <a:lumOff val="80000"/>
              </a:schemeClr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31" name="Text 28"/>
            <p:cNvSpPr/>
            <p:nvPr/>
          </p:nvSpPr>
          <p:spPr>
            <a:xfrm>
              <a:off x="4949129" y="2954862"/>
              <a:ext cx="894077" cy="12754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1200" dirty="0">
                  <a:solidFill>
                    <a:srgbClr val="FFFFFF"/>
                  </a:solidFill>
                  <a:ea typeface="Arial" pitchFamily="34" charset="-122"/>
                  <a:cs typeface="Arial" pitchFamily="34" charset="-120"/>
                </a:rPr>
                <a:t>No Improvement</a:t>
              </a:r>
              <a:endParaRPr lang="en-US" sz="1200" dirty="0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EB118F0-9FB7-9671-A18C-CB9DE1E805E9}"/>
                </a:ext>
              </a:extLst>
            </p:cNvPr>
            <p:cNvGrpSpPr/>
            <p:nvPr/>
          </p:nvGrpSpPr>
          <p:grpSpPr>
            <a:xfrm>
              <a:off x="5997800" y="2428875"/>
              <a:ext cx="886691" cy="646791"/>
              <a:chOff x="6400683" y="1281204"/>
              <a:chExt cx="886691" cy="646791"/>
            </a:xfrm>
          </p:grpSpPr>
          <p:sp>
            <p:nvSpPr>
              <p:cNvPr id="32" name="Text 29"/>
              <p:cNvSpPr/>
              <p:nvPr/>
            </p:nvSpPr>
            <p:spPr>
              <a:xfrm>
                <a:off x="6400683" y="1281204"/>
                <a:ext cx="886691" cy="1465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155"/>
                  </a:lnSpc>
                  <a:spcAft>
                    <a:spcPts val="450"/>
                  </a:spcAft>
                  <a:buNone/>
                </a:pPr>
                <a:r>
                  <a:rPr lang="en-US" sz="1200" dirty="0">
                    <a:solidFill>
                      <a:srgbClr val="A0B4C8"/>
                    </a:solidFill>
                    <a:ea typeface="Arial" pitchFamily="34" charset="-122"/>
                    <a:cs typeface="Arial" pitchFamily="34" charset="-120"/>
                  </a:rPr>
                  <a:t>Network Lines</a:t>
                </a:r>
                <a:endParaRPr lang="en-US" sz="1200" dirty="0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3E177C49-529B-49D7-3611-420E58510863}"/>
                  </a:ext>
                </a:extLst>
              </p:cNvPr>
              <p:cNvGrpSpPr/>
              <p:nvPr/>
            </p:nvGrpSpPr>
            <p:grpSpPr>
              <a:xfrm>
                <a:off x="6400683" y="1467391"/>
                <a:ext cx="882119" cy="460604"/>
                <a:chOff x="5710386" y="2632621"/>
                <a:chExt cx="882119" cy="460604"/>
              </a:xfrm>
            </p:grpSpPr>
            <p:sp>
              <p:nvSpPr>
                <p:cNvPr id="33" name="Text 30"/>
                <p:cNvSpPr/>
                <p:nvPr/>
              </p:nvSpPr>
              <p:spPr>
                <a:xfrm>
                  <a:off x="5710386" y="2691557"/>
                  <a:ext cx="152400" cy="28575"/>
                </a:xfrm>
                <a:prstGeom prst="rect">
                  <a:avLst/>
                </a:prstGeom>
                <a:solidFill>
                  <a:srgbClr val="FF00FF"/>
                </a:solidFill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endParaRPr lang="en-US" sz="1200" dirty="0"/>
                </a:p>
              </p:txBody>
            </p:sp>
            <p:sp>
              <p:nvSpPr>
                <p:cNvPr id="34" name="Text 31"/>
                <p:cNvSpPr/>
                <p:nvPr/>
              </p:nvSpPr>
              <p:spPr>
                <a:xfrm>
                  <a:off x="5938986" y="2632621"/>
                  <a:ext cx="540728" cy="1465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1155"/>
                    </a:lnSpc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ea typeface="Arial" pitchFamily="34" charset="-122"/>
                      <a:cs typeface="Arial" pitchFamily="34" charset="-120"/>
                    </a:rPr>
                    <a:t>2025 Metro</a:t>
                  </a:r>
                  <a:endParaRPr lang="en-US" sz="1200" dirty="0"/>
                </a:p>
              </p:txBody>
            </p:sp>
            <p:sp>
              <p:nvSpPr>
                <p:cNvPr id="35" name="Text 32"/>
                <p:cNvSpPr/>
                <p:nvPr/>
              </p:nvSpPr>
              <p:spPr>
                <a:xfrm>
                  <a:off x="5723189" y="3012877"/>
                  <a:ext cx="152400" cy="28575"/>
                </a:xfrm>
                <a:prstGeom prst="rect">
                  <a:avLst/>
                </a:prstGeom>
                <a:solidFill>
                  <a:srgbClr val="FFB6C1"/>
                </a:solidFill>
                <a:ln/>
              </p:spPr>
              <p:txBody>
                <a:bodyPr wrap="square" rtlCol="0" anchor="ctr"/>
                <a:lstStyle/>
                <a:p>
                  <a:pPr marL="0" indent="0">
                    <a:buNone/>
                  </a:pPr>
                  <a:endParaRPr lang="en-US" sz="1200" dirty="0"/>
                </a:p>
              </p:txBody>
            </p:sp>
            <p:sp>
              <p:nvSpPr>
                <p:cNvPr id="36" name="Text 33"/>
                <p:cNvSpPr/>
                <p:nvPr/>
              </p:nvSpPr>
              <p:spPr>
                <a:xfrm>
                  <a:off x="5938986" y="2946629"/>
                  <a:ext cx="653519" cy="14659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lnSpc>
                      <a:spcPts val="1155"/>
                    </a:lnSpc>
                    <a:buNone/>
                  </a:pPr>
                  <a:r>
                    <a:rPr lang="en-US" sz="1200" dirty="0">
                      <a:solidFill>
                        <a:srgbClr val="FFFFFF"/>
                      </a:solidFill>
                      <a:ea typeface="Arial" pitchFamily="34" charset="-122"/>
                      <a:cs typeface="Arial" pitchFamily="34" charset="-120"/>
                    </a:rPr>
                    <a:t>2028 Projects</a:t>
                  </a:r>
                  <a:endParaRPr lang="en-US" sz="1200" dirty="0"/>
                </a:p>
              </p:txBody>
            </p:sp>
          </p:grpSp>
        </p:grpSp>
        <p:sp>
          <p:nvSpPr>
            <p:cNvPr id="38" name="Text 35"/>
            <p:cNvSpPr/>
            <p:nvPr/>
          </p:nvSpPr>
          <p:spPr>
            <a:xfrm>
              <a:off x="7049725" y="2627308"/>
              <a:ext cx="114300" cy="114300"/>
            </a:xfrm>
            <a:prstGeom prst="rect">
              <a:avLst/>
            </a:prstGeom>
            <a:solidFill>
              <a:srgbClr val="8B008B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DF899894-17D0-FE95-43B0-5F21BB22448E}"/>
                </a:ext>
              </a:extLst>
            </p:cNvPr>
            <p:cNvGrpSpPr/>
            <p:nvPr/>
          </p:nvGrpSpPr>
          <p:grpSpPr>
            <a:xfrm>
              <a:off x="7049725" y="2428875"/>
              <a:ext cx="847677" cy="350342"/>
              <a:chOff x="6770191" y="2428875"/>
              <a:chExt cx="847677" cy="350342"/>
            </a:xfrm>
          </p:grpSpPr>
          <p:sp>
            <p:nvSpPr>
              <p:cNvPr id="37" name="Text 34"/>
              <p:cNvSpPr/>
              <p:nvPr/>
            </p:nvSpPr>
            <p:spPr>
              <a:xfrm>
                <a:off x="6770191" y="2428875"/>
                <a:ext cx="847677" cy="1465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155"/>
                  </a:lnSpc>
                  <a:spcAft>
                    <a:spcPts val="450"/>
                  </a:spcAft>
                  <a:buNone/>
                </a:pPr>
                <a:r>
                  <a:rPr lang="en-US" sz="1200" dirty="0">
                    <a:solidFill>
                      <a:srgbClr val="A0B4C8"/>
                    </a:solidFill>
                    <a:ea typeface="Arial" pitchFamily="34" charset="-122"/>
                    <a:cs typeface="Arial" pitchFamily="34" charset="-120"/>
                  </a:rPr>
                  <a:t>Venues</a:t>
                </a:r>
                <a:endParaRPr lang="en-US" sz="1200" dirty="0"/>
              </a:p>
            </p:txBody>
          </p:sp>
          <p:sp>
            <p:nvSpPr>
              <p:cNvPr id="39" name="Text 36"/>
              <p:cNvSpPr/>
              <p:nvPr/>
            </p:nvSpPr>
            <p:spPr>
              <a:xfrm>
                <a:off x="6960691" y="2632621"/>
                <a:ext cx="653367" cy="14659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ts val="1155"/>
                  </a:lnSpc>
                  <a:buNone/>
                </a:pPr>
                <a:r>
                  <a:rPr lang="en-US" sz="1200" dirty="0">
                    <a:solidFill>
                      <a:srgbClr val="FFFFFF"/>
                    </a:solidFill>
                    <a:ea typeface="Arial" pitchFamily="34" charset="-122"/>
                    <a:cs typeface="Arial" pitchFamily="34" charset="-120"/>
                  </a:rPr>
                  <a:t>Olympic Sites</a:t>
                </a:r>
                <a:endParaRPr lang="en-US" sz="1200" dirty="0"/>
              </a:p>
            </p:txBody>
          </p:sp>
        </p:grpSp>
      </p:grpSp>
      <p:sp>
        <p:nvSpPr>
          <p:cNvPr id="43" name="Text 40"/>
          <p:cNvSpPr/>
          <p:nvPr/>
        </p:nvSpPr>
        <p:spPr>
          <a:xfrm>
            <a:off x="762643" y="4910981"/>
            <a:ext cx="36793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Data: LA GeoHub, LA Metro | Analysis: ArcGIS Pro</a:t>
            </a:r>
            <a:endParaRPr lang="en-US" sz="12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D4BD7F03-9AD0-5F43-46E9-3713A79B85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47" b="46696"/>
          <a:stretch>
            <a:fillRect/>
          </a:stretch>
        </p:blipFill>
        <p:spPr>
          <a:xfrm>
            <a:off x="5048300" y="2565076"/>
            <a:ext cx="3743524" cy="2439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FCEB78-C45D-9617-0E91-52CE343203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40" r="2636" b="42095"/>
          <a:stretch>
            <a:fillRect/>
          </a:stretch>
        </p:blipFill>
        <p:spPr>
          <a:xfrm>
            <a:off x="0" y="0"/>
            <a:ext cx="6494854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D8CA8F-8BE4-AE32-BA3B-D2D59D793A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24" t="58920" r="21735" b="8470"/>
          <a:stretch>
            <a:fillRect/>
          </a:stretch>
        </p:blipFill>
        <p:spPr>
          <a:xfrm>
            <a:off x="6510527" y="679268"/>
            <a:ext cx="2621164" cy="14839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CBA81C-805B-F6B4-A956-BADC5C2BC42E}"/>
              </a:ext>
            </a:extLst>
          </p:cNvPr>
          <p:cNvSpPr txBox="1"/>
          <p:nvPr/>
        </p:nvSpPr>
        <p:spPr>
          <a:xfrm>
            <a:off x="141079" y="62697"/>
            <a:ext cx="2873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Key Findings 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F15F0-ACEA-5609-0F6A-C7C94B0FE3E6}"/>
              </a:ext>
            </a:extLst>
          </p:cNvPr>
          <p:cNvSpPr txBox="1"/>
          <p:nvPr/>
        </p:nvSpPr>
        <p:spPr>
          <a:xfrm>
            <a:off x="6332871" y="2089194"/>
            <a:ext cx="28111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Strongest gains near new rail corridors – </a:t>
            </a:r>
            <a:r>
              <a:rPr lang="en-IN" sz="1200" dirty="0"/>
              <a:t>32% of improved tracts see medium to high </a:t>
            </a:r>
            <a:r>
              <a:rPr lang="en-IN" sz="1200" dirty="0" err="1"/>
              <a:t>imporvements</a:t>
            </a:r>
            <a:endParaRPr lang="en-IN" sz="12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Improved access for tracts in otherwise underserved areas</a:t>
            </a:r>
            <a:r>
              <a:rPr lang="en-IN" sz="1200" dirty="0"/>
              <a:t> – new lines is bringing Metro’s network closer to newer </a:t>
            </a:r>
            <a:r>
              <a:rPr lang="en-IN" sz="1200" dirty="0" err="1"/>
              <a:t>neighborhoods</a:t>
            </a:r>
            <a:endParaRPr lang="en-I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b="1" dirty="0"/>
              <a:t>Olympic venues are still away from LA Metro’s network</a:t>
            </a:r>
            <a:r>
              <a:rPr lang="en-IN" sz="1200" dirty="0"/>
              <a:t> and will need </a:t>
            </a:r>
            <a:r>
              <a:rPr lang="en-IN" sz="1200" i="1" dirty="0"/>
              <a:t>other</a:t>
            </a:r>
            <a:r>
              <a:rPr lang="en-IN" sz="1200" dirty="0"/>
              <a:t> impetus for mobility ease and efficient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There is still a lot more to do for LA as a region – only 0.05% of the tracts are seeing access gains via these projects.</a:t>
            </a:r>
          </a:p>
        </p:txBody>
      </p:sp>
      <p:sp>
        <p:nvSpPr>
          <p:cNvPr id="8" name="Text 40">
            <a:extLst>
              <a:ext uri="{FF2B5EF4-FFF2-40B4-BE49-F238E27FC236}">
                <a16:creationId xmlns:a16="http://schemas.microsoft.com/office/drawing/2014/main" id="{1D7D58B2-E5B1-7FE3-F21A-D2E14809C10B}"/>
              </a:ext>
            </a:extLst>
          </p:cNvPr>
          <p:cNvSpPr/>
          <p:nvPr/>
        </p:nvSpPr>
        <p:spPr>
          <a:xfrm>
            <a:off x="193331" y="4949503"/>
            <a:ext cx="4174888" cy="8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50"/>
              </a:lnSpc>
              <a:buNone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Data: LA GeoHub, LA Metro | Author Analysis: ArcGIS Pro, MS Excel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6897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4b452d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62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228600"/>
            <a:ext cx="42845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ea typeface="Georgia" pitchFamily="34" charset="-122"/>
                <a:cs typeface="Georgia" pitchFamily="34" charset="-120"/>
              </a:rPr>
              <a:t>Limitations &amp; Conclusion</a:t>
            </a:r>
            <a:endParaRPr lang="en-US" sz="20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DFA920-8C44-663E-18FF-8E837CC3FAA0}"/>
              </a:ext>
            </a:extLst>
          </p:cNvPr>
          <p:cNvGrpSpPr/>
          <p:nvPr/>
        </p:nvGrpSpPr>
        <p:grpSpPr>
          <a:xfrm>
            <a:off x="762000" y="821085"/>
            <a:ext cx="3532495" cy="3027908"/>
            <a:chOff x="762000" y="1419671"/>
            <a:chExt cx="3532495" cy="3027908"/>
          </a:xfrm>
        </p:grpSpPr>
        <p:sp>
          <p:nvSpPr>
            <p:cNvPr id="4" name="Text 1"/>
            <p:cNvSpPr/>
            <p:nvPr/>
          </p:nvSpPr>
          <p:spPr>
            <a:xfrm>
              <a:off x="762000" y="1419671"/>
              <a:ext cx="3532495" cy="18663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470"/>
                </a:lnSpc>
                <a:spcAft>
                  <a:spcPts val="300"/>
                </a:spcAft>
                <a:buNone/>
              </a:pPr>
              <a:r>
                <a:rPr lang="en-US" sz="1200" b="1" dirty="0">
                  <a:solidFill>
                    <a:srgbClr val="FF6B35"/>
                  </a:solidFill>
                  <a:ea typeface="Arial" pitchFamily="34" charset="-122"/>
                  <a:cs typeface="Arial" pitchFamily="34" charset="-120"/>
                </a:rPr>
                <a:t>LIMITATIONS</a:t>
              </a:r>
              <a:endParaRPr lang="en-US" sz="1200" dirty="0"/>
            </a:p>
          </p:txBody>
        </p:sp>
        <p:sp>
          <p:nvSpPr>
            <p:cNvPr id="5" name="Text 2"/>
            <p:cNvSpPr/>
            <p:nvPr/>
          </p:nvSpPr>
          <p:spPr>
            <a:xfrm>
              <a:off x="762000" y="1758702"/>
              <a:ext cx="3463230" cy="917823"/>
            </a:xfrm>
            <a:prstGeom prst="roundRect">
              <a:avLst>
                <a:gd name="adj" fmla="val 8302"/>
              </a:avLst>
            </a:prstGeom>
            <a:solidFill>
              <a:srgbClr val="162D4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914400" y="1892052"/>
              <a:ext cx="3221599" cy="17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65"/>
                </a:lnSpc>
                <a:spcAft>
                  <a:spcPts val="30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ea typeface="Arial" pitchFamily="34" charset="-122"/>
                  <a:cs typeface="Arial" pitchFamily="34" charset="-120"/>
                </a:rPr>
                <a:t>Proximity, not performance</a:t>
              </a:r>
              <a:endParaRPr lang="en-US" sz="12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914400" y="2061656"/>
              <a:ext cx="3221599" cy="43978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1200" dirty="0">
                  <a:solidFill>
                    <a:srgbClr val="A0B4C8"/>
                  </a:solidFill>
                  <a:ea typeface="Arial" pitchFamily="34" charset="-122"/>
                  <a:cs typeface="Arial" pitchFamily="34" charset="-120"/>
                </a:rPr>
                <a:t>KD measures distance to transit — not frequency, speed, or reliability. "High improvement" tracts may still have infrequent service.</a:t>
              </a:r>
              <a:endParaRPr lang="en-US" sz="12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762000" y="2790825"/>
              <a:ext cx="3463230" cy="771227"/>
            </a:xfrm>
            <a:prstGeom prst="roundRect">
              <a:avLst>
                <a:gd name="adj" fmla="val 9880"/>
              </a:avLst>
            </a:prstGeom>
            <a:solidFill>
              <a:srgbClr val="162D4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914400" y="2867113"/>
              <a:ext cx="3221599" cy="17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65"/>
                </a:lnSpc>
                <a:spcAft>
                  <a:spcPts val="30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ea typeface="Arial" pitchFamily="34" charset="-122"/>
                  <a:cs typeface="Arial" pitchFamily="34" charset="-120"/>
                </a:rPr>
                <a:t>Tracts, not people</a:t>
              </a:r>
              <a:endParaRPr lang="en-US" sz="12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914400" y="3036540"/>
              <a:ext cx="3221599" cy="2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1200" dirty="0">
                  <a:solidFill>
                    <a:srgbClr val="A0B4C8"/>
                  </a:solidFill>
                  <a:ea typeface="Arial" pitchFamily="34" charset="-122"/>
                  <a:cs typeface="Arial" pitchFamily="34" charset="-120"/>
                </a:rPr>
                <a:t>Tract-based metrics, not population-weighted. A tract of 50K residents = same as 5K. Future work should weight by population.</a:t>
              </a:r>
              <a:endParaRPr lang="en-US" sz="12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62000" y="3676352"/>
              <a:ext cx="3463230" cy="771227"/>
            </a:xfrm>
            <a:prstGeom prst="roundRect">
              <a:avLst>
                <a:gd name="adj" fmla="val 9880"/>
              </a:avLst>
            </a:prstGeom>
            <a:solidFill>
              <a:srgbClr val="162D4D"/>
            </a:solidFill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914400" y="3749750"/>
              <a:ext cx="3221599" cy="17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365"/>
                </a:lnSpc>
                <a:spcAft>
                  <a:spcPts val="300"/>
                </a:spcAft>
                <a:buNone/>
              </a:pPr>
              <a:r>
                <a:rPr lang="en-US" sz="1200" b="1" dirty="0">
                  <a:solidFill>
                    <a:srgbClr val="FFFFFF"/>
                  </a:solidFill>
                  <a:ea typeface="Arial" pitchFamily="34" charset="-122"/>
                  <a:cs typeface="Arial" pitchFamily="34" charset="-120"/>
                </a:rPr>
                <a:t>Scenario uncertainty</a:t>
              </a:r>
              <a:endParaRPr lang="en-US" sz="12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914400" y="3915369"/>
              <a:ext cx="3221599" cy="2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lnSpc>
                  <a:spcPts val="1155"/>
                </a:lnSpc>
                <a:buNone/>
              </a:pPr>
              <a:r>
                <a:rPr lang="en-US" sz="1200" dirty="0">
                  <a:solidFill>
                    <a:srgbClr val="A0B4C8"/>
                  </a:solidFill>
                  <a:ea typeface="Arial" pitchFamily="34" charset="-122"/>
                  <a:cs typeface="Arial" pitchFamily="34" charset="-120"/>
                </a:rPr>
                <a:t>2028 network based on current plans. Real-world delays, budget constraints, or scope changes could shift outcomes.</a:t>
              </a:r>
              <a:endParaRPr lang="en-US" sz="1200" dirty="0"/>
            </a:p>
          </p:txBody>
        </p:sp>
      </p:grpSp>
      <p:sp>
        <p:nvSpPr>
          <p:cNvPr id="14" name="Text 11"/>
          <p:cNvSpPr/>
          <p:nvPr/>
        </p:nvSpPr>
        <p:spPr>
          <a:xfrm>
            <a:off x="4530030" y="821085"/>
            <a:ext cx="431762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0A8E8"/>
                </a:solidFill>
                <a:ea typeface="Arial" pitchFamily="34" charset="-122"/>
                <a:cs typeface="Arial" pitchFamily="34" charset="-120"/>
              </a:rPr>
              <a:t>CONCLUSION</a:t>
            </a:r>
            <a:endParaRPr lang="en-US" sz="1200" dirty="0"/>
          </a:p>
        </p:txBody>
      </p:sp>
      <p:pic>
        <p:nvPicPr>
          <p:cNvPr id="15" name="Image 1" descr="/tmp/rasterized-gradient-d4b8efa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0030" y="1160115"/>
            <a:ext cx="4232970" cy="2667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30055" y="1341090"/>
            <a:ext cx="3909578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spcAft>
                <a:spcPts val="900"/>
              </a:spcAft>
              <a:buNone/>
            </a:pPr>
            <a:r>
              <a:rPr lang="en-US" sz="12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GIS-based Kernel Density analysis transforms complex transit plans into an intuitive </a:t>
            </a:r>
            <a:r>
              <a:rPr lang="en-US" sz="1200" b="1" dirty="0">
                <a:solidFill>
                  <a:srgbClr val="00A8E8"/>
                </a:solidFill>
                <a:ea typeface="Arial" pitchFamily="34" charset="-122"/>
                <a:cs typeface="Arial" pitchFamily="34" charset="-120"/>
              </a:rPr>
              <a:t>before-and-after accessibility story</a:t>
            </a:r>
            <a:r>
              <a:rPr lang="en-US" sz="1200" dirty="0">
                <a:solidFill>
                  <a:srgbClr val="FFFFFF"/>
                </a:solidFill>
                <a:ea typeface="Arial" pitchFamily="34" charset="-122"/>
                <a:cs typeface="Arial" pitchFamily="34" charset="-120"/>
              </a:rPr>
              <a:t>: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06255" y="1855440"/>
            <a:ext cx="3756720" cy="1790700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Dark-blue KD surfaces → where transit access sees strongest improvement.</a:t>
            </a:r>
            <a:endParaRPr lang="en-US" sz="1200" dirty="0"/>
          </a:p>
          <a:p>
            <a:pPr marL="76200" indent="-762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Dark-blue census tracts → who benefits most from new lines</a:t>
            </a:r>
            <a:endParaRPr lang="en-US" sz="1200" dirty="0"/>
          </a:p>
          <a:p>
            <a:pPr marL="76200" indent="-76200" algn="l">
              <a:lnSpc>
                <a:spcPts val="2100"/>
              </a:lnSpc>
              <a:spcAft>
                <a:spcPts val="450"/>
              </a:spcAft>
              <a:buSzPct val="100000"/>
              <a:buChar char="•"/>
            </a:pPr>
            <a:r>
              <a:rPr lang="en-US" sz="1200" dirty="0">
                <a:solidFill>
                  <a:srgbClr val="A0B4C8"/>
                </a:solidFill>
                <a:ea typeface="Arial" pitchFamily="34" charset="-122"/>
                <a:cs typeface="Arial" pitchFamily="34" charset="-120"/>
              </a:rPr>
              <a:t>Purple venues + pink/magenta lines → direct LA28 spatial reference</a:t>
            </a:r>
            <a:endParaRPr lang="en-US" sz="1200" dirty="0"/>
          </a:p>
        </p:txBody>
      </p:sp>
      <p:pic>
        <p:nvPicPr>
          <p:cNvPr id="18" name="Image 2" descr="/tmp/rasterized-gradient-fdf0597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941415"/>
            <a:ext cx="8001000" cy="11049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39642" y="4224039"/>
            <a:ext cx="7533225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2000" dirty="0">
                <a:solidFill>
                  <a:srgbClr val="0A1628"/>
                </a:solidFill>
                <a:ea typeface="Arial" pitchFamily="34" charset="-122"/>
                <a:cs typeface="Arial" pitchFamily="34" charset="-120"/>
              </a:rPr>
              <a:t>As LA approaches the Games, analyses like this help ensure Olympic-driven projects deliver on their promise of a </a:t>
            </a:r>
            <a:r>
              <a:rPr lang="en-US" sz="2000" b="1" i="1" dirty="0">
                <a:solidFill>
                  <a:srgbClr val="0A1628"/>
                </a:solidFill>
                <a:ea typeface="Arial" pitchFamily="34" charset="-122"/>
                <a:cs typeface="Arial" pitchFamily="34" charset="-120"/>
              </a:rPr>
              <a:t>lasting, equitable mobility legacy</a:t>
            </a:r>
            <a:r>
              <a:rPr lang="en-US" sz="2000" dirty="0">
                <a:solidFill>
                  <a:srgbClr val="0A1628"/>
                </a:solidFill>
                <a:ea typeface="Arial" pitchFamily="34" charset="-122"/>
                <a:cs typeface="Arial" pitchFamily="34" charset="-120"/>
              </a:rPr>
              <a:t> — not a one-time spectacle.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762000" y="4781550"/>
            <a:ext cx="19292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436</Words>
  <Application>Microsoft Office PowerPoint</Application>
  <PresentationFormat>On-screen Show (16:9)</PresentationFormat>
  <Paragraphs>53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LA28 Mobility Study</dc:title>
  <dc:subject>PptxGenJS Presentation</dc:subject>
  <dc:creator>Transit Accessibility Analysis</dc:creator>
  <cp:lastModifiedBy>Vashishth Doshi</cp:lastModifiedBy>
  <cp:revision>6</cp:revision>
  <dcterms:created xsi:type="dcterms:W3CDTF">2025-12-08T05:22:12Z</dcterms:created>
  <dcterms:modified xsi:type="dcterms:W3CDTF">2025-12-08T11:43:07Z</dcterms:modified>
</cp:coreProperties>
</file>